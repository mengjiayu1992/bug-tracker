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mfortaa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2e74cea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2e74cea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ENABLES STUDY…     TESTS…    DISCOVERIES IN…    WITHSTANDS…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(matter/antimatter asymmetry)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8ae46d3c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8ae46d3c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8ae46d3cb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8ae46d3c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e46d3c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8ae46d3c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5d775b0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5d775b0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ae46d3c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ae46d3c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ae46d3c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8ae46d3c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ae46d3cb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8ae46d3cb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be8f312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8be8f31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5d775b0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5d775b0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+ PHP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HTML : Forms, submit buttons</a:t>
            </a:r>
            <a:br>
              <a:rPr lang="en"/>
            </a:br>
            <a:r>
              <a:rPr lang="en"/>
              <a:t>PHP : POST, GET, SQL </a:t>
            </a:r>
            <a:r>
              <a:rPr lang="en"/>
              <a:t>queries, transitions between stages u</a:t>
            </a:r>
            <a:r>
              <a:rPr lang="en"/>
              <a:t>sing STATUS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GET for actions (approve/reject)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isset($_POST) for form submissions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Uses prepared statements to prevent SQL injection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SQL queries update db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STATUS field controls where bugs appear in the workflow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5d775b04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5d775b04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Production Target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Primary beam at FRIB will be focused into a 1 mm diameter beam spot size on target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Power deposited in target ~ 100 kW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Power density at beam spot ~ 20–60 MW/cm</a:t>
            </a:r>
            <a:r>
              <a:rPr baseline="30000" lang="en"/>
              <a:t>3</a:t>
            </a:r>
            <a:endParaRPr baseline="30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Utilizes rotating multi-slice graphite target design to increase radiating area and reduced total power per slice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Dipoles </a:t>
            </a:r>
            <a:r>
              <a:rPr lang="en"/>
              <a:t>vertically </a:t>
            </a:r>
            <a:r>
              <a:rPr lang="en"/>
              <a:t>bend beam and create the spatial separation needed to weed out contaminants from fragments of interest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Quadrupoles</a:t>
            </a:r>
            <a:r>
              <a:rPr lang="en"/>
              <a:t> used to focus beam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Magnetic Dipoles and Quadrupoles are </a:t>
            </a:r>
            <a:r>
              <a:rPr b="1" lang="en"/>
              <a:t>superferric </a:t>
            </a:r>
            <a:r>
              <a:rPr lang="en"/>
              <a:t>and either</a:t>
            </a:r>
            <a:r>
              <a:rPr b="1" lang="en"/>
              <a:t> radiation-tolerant</a:t>
            </a:r>
            <a:r>
              <a:rPr lang="en"/>
              <a:t> or</a:t>
            </a:r>
            <a:r>
              <a:rPr b="1" lang="en"/>
              <a:t> radiation-resistant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maximize efficiency,</a:t>
            </a:r>
            <a:r>
              <a:rPr b="1" lang="en"/>
              <a:t> Front-end Quadrupoles </a:t>
            </a:r>
            <a:r>
              <a:rPr lang="en"/>
              <a:t>utilize warm iron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Return yoke &amp; pole tip pieces are not cooled to cryogenic temperatures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Minimizes cooling power required to dissipate power absorbed from neutron and proton radiation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(Enclosed in 3 large vacuum vessels with shielded lids)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Down-stream Quadrupole Triplets</a:t>
            </a:r>
            <a:r>
              <a:rPr lang="en"/>
              <a:t> utilizes cold iron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Much weaker radiation fields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Return yoke &amp; pole tip pieces cooled to cryogenic temperatures *heloium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(Enclosed in cryostat)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Wedge Energy Degrader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Creates mass separation in pre-separator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Compresses momentum distribution of RNB of interest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210d1a10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1210d1a10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be8f31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8be8f31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Production Target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Primary beam at FRIB will be focused into a 1 mm diameter beam spot size on target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Power deposited in target ~ 100 kW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Power density at beam spot ~ 20–60 MW/cm</a:t>
            </a:r>
            <a:r>
              <a:rPr baseline="30000" lang="en"/>
              <a:t>3</a:t>
            </a:r>
            <a:endParaRPr baseline="30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Utilizes rotating multi-slice graphite target design to increase radiating area and reduced total power per slice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Dipoles </a:t>
            </a:r>
            <a:r>
              <a:rPr lang="en"/>
              <a:t>vertically bend beam and create the spatial separation needed to weed out contaminants from fragments of interest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Quadrupoles</a:t>
            </a:r>
            <a:r>
              <a:rPr lang="en"/>
              <a:t> used to focus beam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Magnetic Dipoles and Quadrupoles are </a:t>
            </a:r>
            <a:r>
              <a:rPr b="1" lang="en"/>
              <a:t>superferric </a:t>
            </a:r>
            <a:r>
              <a:rPr lang="en"/>
              <a:t>and either</a:t>
            </a:r>
            <a:r>
              <a:rPr b="1" lang="en"/>
              <a:t> radiation-tolerant</a:t>
            </a:r>
            <a:r>
              <a:rPr lang="en"/>
              <a:t> or</a:t>
            </a:r>
            <a:r>
              <a:rPr b="1" lang="en"/>
              <a:t> radiation-resistant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maximize efficiency,</a:t>
            </a:r>
            <a:r>
              <a:rPr b="1" lang="en"/>
              <a:t> Front-end Quadrupoles </a:t>
            </a:r>
            <a:r>
              <a:rPr lang="en"/>
              <a:t>utilize warm iron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Return yoke &amp; pole tip pieces are not cooled to cryogenic temperatures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Minimizes cooling power required to dissipate power absorbed from neutron and proton radiation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(Enclosed in 3 large vacuum vessels with shielded lids)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Down-stream Quadrupole Triplets</a:t>
            </a:r>
            <a:r>
              <a:rPr lang="en"/>
              <a:t> utilizes cold iron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Much weaker radiation fields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Return yoke &amp; pole tip pieces cooled to cryogenic temperatures *heloium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(Enclosed in cryostat)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Wedge Energy Degrader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Creates mass separation in pre-separator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Compresses momentum distribution of RNB of interest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8dabc770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8dabc770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8dabc7706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8dabc770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210d1a1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1210d1a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5d775b04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5d775b04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3bbe03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b3bbe03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5d775b04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e5d775b04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Overall Achromatic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 consecutive 30° dipole magnets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dispersive image is formed at the beam dump position after the first 30° dipole magnet w/ resolving power 700 - first momentum acceptance set with slits here at beam dump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second 30° dipole magnet adds to that resolving power so that after refocusing a dispersive image w/ resolving power 1720 is formed - second momentum acceptance set here at the wedge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high resolving power reduces the background and allows single ions to be unambiguously identified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Thicker energy degraders used to increase the mass separation lead to an increased production of contaminants from secondary reactions in the degrader. The multi-stage layout of ARIS suppresses these secondary reaction products &amp; enchanes yield purity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downstream section forms the achromatic image at the entrance to the second separator stage.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Ions of different mass to charge (m/z) ratios are deflected to a different extent, resulting in a ‘sorting’ of ions by mass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(virtually all ions have charges of z = +1, so sorting by the mass to charge ratio is the same thing as sorting by mass). A detector at the end of the curved flight tube records and quantifies the sorted 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mass spectrometer is able to separate and detect ions of slightly different masses and then to distinguish the different isotopes of a given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85a5601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85a5601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Overall Achromatic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 consecutive 30° dipole magnets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dispersive image is formed at the beam dump position after the first 30° dipole magnet w/ resolving power 700 - first momentum acceptance set with slits here at beam dump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second 30° dipole magnet adds to that resolving power so that after refocusing a dispersive image w/ resolving power 1720 is formed - second momentum acceptance set here at the wedge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high resolving power reduces the background and allows single ions to be unambiguously identified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Thicker energy degraders used to increase the mass separation lead to an increased production of contaminants from secondary reactions in the degrader. The multi-stage layout of ARIS suppresses these secondary reaction products &amp; enchanes yield purity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downstream section forms the achromatic image at the entrance to the second separator stage.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Ions of different mass to charge (m/z) ratios are deflected to a different extent, resulting in a ‘sorting’ of ions by mass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(virtually all ions have charges of z = +1, so sorting by the mass to charge ratio is the same thing as sorting by mass). A detector at the end of the curved flight tube records and quantifies the sorted 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mass spectrometer is able to separate and detect ions of slightly different masses and then to distinguish the different isotopes of a given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yan.csam.montclair.edu/~caicedr1/bug_tracker/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916625"/>
            <a:ext cx="8520600" cy="10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latin typeface="Comfortaa"/>
                <a:ea typeface="Comfortaa"/>
                <a:cs typeface="Comfortaa"/>
                <a:sym typeface="Comfortaa"/>
              </a:rPr>
              <a:t>BUG BUSTERS</a:t>
            </a:r>
            <a:endParaRPr b="1" sz="4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45450"/>
            <a:ext cx="85206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2140">
                <a:latin typeface="Comfortaa"/>
                <a:ea typeface="Comfortaa"/>
                <a:cs typeface="Comfortaa"/>
                <a:sym typeface="Comfortaa"/>
              </a:rPr>
              <a:t>Group 8</a:t>
            </a:r>
            <a:endParaRPr b="1" sz="214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24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805">
                <a:latin typeface="Comfortaa"/>
                <a:ea typeface="Comfortaa"/>
                <a:cs typeface="Comfortaa"/>
                <a:sym typeface="Comfortaa"/>
              </a:rPr>
              <a:t>Taiwo Ojo</a:t>
            </a:r>
            <a:endParaRPr b="1" sz="1805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805">
                <a:latin typeface="Comfortaa"/>
                <a:ea typeface="Comfortaa"/>
                <a:cs typeface="Comfortaa"/>
                <a:sym typeface="Comfortaa"/>
              </a:rPr>
              <a:t>Mengjia Yu</a:t>
            </a:r>
            <a:endParaRPr b="1" sz="1805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805">
                <a:latin typeface="Comfortaa"/>
                <a:ea typeface="Comfortaa"/>
                <a:cs typeface="Comfortaa"/>
                <a:sym typeface="Comfortaa"/>
              </a:rPr>
              <a:t>Roxy Caicedo</a:t>
            </a:r>
            <a:endParaRPr b="1" sz="1805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805">
                <a:latin typeface="Comfortaa"/>
                <a:ea typeface="Comfortaa"/>
                <a:cs typeface="Comfortaa"/>
                <a:sym typeface="Comfortaa"/>
              </a:rPr>
              <a:t>Jorge Cuautle</a:t>
            </a:r>
            <a:endParaRPr b="1" sz="274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72500" y="508675"/>
            <a:ext cx="7408500" cy="206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 title="header_wide.jpe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050" y="647777"/>
            <a:ext cx="7157876" cy="17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326950" y="1276200"/>
            <a:ext cx="2367000" cy="1295700"/>
          </a:xfrm>
          <a:prstGeom prst="roundRect">
            <a:avLst>
              <a:gd fmla="val 26595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admin_id, name, email, password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26950" y="3101300"/>
            <a:ext cx="2367000" cy="1753500"/>
          </a:xfrm>
          <a:prstGeom prst="roundRect">
            <a:avLst>
              <a:gd fmla="val 26595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UGS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bug_id, ticket_number, bug_name, source_application, severity, impact,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313400" y="1276200"/>
            <a:ext cx="2364900" cy="1295700"/>
          </a:xfrm>
          <a:prstGeom prst="roundRect">
            <a:avLst>
              <a:gd fmla="val 26595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ser_id, name, email, password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313400" y="3101300"/>
            <a:ext cx="2364900" cy="1753500"/>
          </a:xfrm>
          <a:prstGeom prst="roundRect">
            <a:avLst>
              <a:gd fmla="val 26595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COMMENTS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omment_id, bug_id, user_type, comment, approved, created_at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252900" y="3101300"/>
            <a:ext cx="2364900" cy="1753500"/>
          </a:xfrm>
          <a:prstGeom prst="roundRect">
            <a:avLst>
              <a:gd fmla="val 18234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RATINGS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ating_id, bug_id, user_id, rating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251838" y="1276200"/>
            <a:ext cx="2367000" cy="1295700"/>
          </a:xfrm>
          <a:prstGeom prst="roundRect">
            <a:avLst>
              <a:gd fmla="val 26595" name="adj"/>
            </a:avLst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user_id, name, email, password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Database Structure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an icon of a keyboard with square keys on it (Provided by Tenor)"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30200">
            <a:off x="7885067" y="2749971"/>
            <a:ext cx="1036492" cy="73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 star icon. A golden icon that can be used for reviews and ratings. (Provided by Getty Images)"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613" y="4324025"/>
            <a:ext cx="1781473" cy="4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 rot="1833466">
            <a:off x="2192946" y="2795459"/>
            <a:ext cx="689802" cy="8021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🐛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 rot="-1502633">
            <a:off x="117303" y="879160"/>
            <a:ext cx="692396" cy="707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👑</a:t>
            </a:r>
            <a:endParaRPr sz="3400"/>
          </a:p>
        </p:txBody>
      </p:sp>
      <p:sp>
        <p:nvSpPr>
          <p:cNvPr id="73" name="Google Shape;73;p14"/>
          <p:cNvSpPr txBox="1"/>
          <p:nvPr/>
        </p:nvSpPr>
        <p:spPr>
          <a:xfrm rot="1072982">
            <a:off x="8038898" y="1044343"/>
            <a:ext cx="728812" cy="6617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👤</a:t>
            </a:r>
            <a:endParaRPr sz="3100"/>
          </a:p>
        </p:txBody>
      </p:sp>
      <p:sp>
        <p:nvSpPr>
          <p:cNvPr id="74" name="Google Shape;74;p14"/>
          <p:cNvSpPr txBox="1"/>
          <p:nvPr/>
        </p:nvSpPr>
        <p:spPr>
          <a:xfrm>
            <a:off x="4063596" y="948450"/>
            <a:ext cx="55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🫡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Backend Database 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0" y="1168975"/>
            <a:ext cx="8932598" cy="344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Backend Database 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500" y="1164975"/>
            <a:ext cx="6967824" cy="37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Register and login 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23913"/>
            <a:ext cx="4419602" cy="330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05000"/>
            <a:ext cx="4294726" cy="333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Roles, Permissions, &amp; Access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99100" y="1411325"/>
            <a:ext cx="28725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Login to system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Add/Edit staff members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Assin new bugs to staff members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Approve/Reject solutions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Submit and view comments on bugs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622625" y="1411325"/>
            <a:ext cx="25434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A0080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Login to system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A0080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View assigned bugs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A0080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Submit bug solutions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A0080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Submit and view comments on bugs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517050" y="1411325"/>
            <a:ext cx="23244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Login to system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Submit a new bug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Submit and view comments on bugs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Rate their resolved bugs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99100" y="25345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Role based home pages - User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75" y="910825"/>
            <a:ext cx="3152400" cy="25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4">
            <a:alphaModFix/>
          </a:blip>
          <a:srcRect b="0" l="0" r="12824" t="0"/>
          <a:stretch/>
        </p:blipFill>
        <p:spPr>
          <a:xfrm>
            <a:off x="3312320" y="1060020"/>
            <a:ext cx="2241851" cy="220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1324" y="1166825"/>
            <a:ext cx="3220750" cy="296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399100" y="279425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Role based home pages - Staff 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75" y="1272075"/>
            <a:ext cx="4663601" cy="342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475" y="998350"/>
            <a:ext cx="4058626" cy="371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399100" y="192825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Role based home pages - Admin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39566" t="0"/>
          <a:stretch/>
        </p:blipFill>
        <p:spPr>
          <a:xfrm>
            <a:off x="243913" y="889575"/>
            <a:ext cx="4450125" cy="19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938" y="1784725"/>
            <a:ext cx="4145163" cy="312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78125"/>
            <a:ext cx="4523139" cy="1934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399100" y="34455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CSS Styling + inline styling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325400" y="1257288"/>
            <a:ext cx="8355000" cy="1417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Global styling is used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throughout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our Bug tracker website with a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single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CSS file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Layout of headers, menus, and forms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Styling for forms, buttons, cards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Color scheme for visual consistency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38075" y="2995325"/>
            <a:ext cx="5847600" cy="17361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Key features: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form card {login/register}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menu bar {role navigation}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section card {dashboard sections + overall design}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-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assign card {smaller width + positioning}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6119825" y="1925250"/>
            <a:ext cx="2703000" cy="129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#B7E5FF → baby blue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#BFD7FF → lavender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#D8D3FF → light pink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#2F2F2F → dark gray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6119825" y="3355475"/>
            <a:ext cx="2703000" cy="129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Inline color styling of bugs based on status on user and staff home pages (dynamic value)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3185838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 </a:t>
            </a: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accepts</a:t>
            </a:r>
            <a:endParaRPr b="1" i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bug assigned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 member sees the bug in new assignments and accepts the assignment updating its status to in progress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399100" y="289525"/>
            <a:ext cx="85740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A Bug’s Life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Submission to Resolution</a:t>
            </a:r>
            <a:endParaRPr b="1" i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25450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 </a:t>
            </a: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submits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their bug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User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submits a bug using the form with required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fields: title, severity, impact, and source application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712750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 </a:t>
            </a: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assigns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bug to a staff member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 reviews the new bug, makes any necessary edits and assigns the bug to a staff member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4658925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 </a:t>
            </a: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submits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bug solution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Staff member works on a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to the bug and submits their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solution. It is send to admins for approval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6170150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approves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bug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 reviews the bug solution. They can approve or reject it. If rejected, it goes back to the staff as assigned. If approved, status is updated to resolved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7685600" y="1978575"/>
            <a:ext cx="1371900" cy="27507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i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rates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bug solution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bug status is updated to resolved and the user can rate the resolution with a star rating from 1-5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7025" y="914700"/>
            <a:ext cx="15699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Bug Status: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1139399" y="1581332"/>
            <a:ext cx="7173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942029" y="1581332"/>
            <a:ext cx="13299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Assigned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5012483" y="1581332"/>
            <a:ext cx="22425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Pending Approval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7436300" y="1581332"/>
            <a:ext cx="12858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Resolved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0" name="Google Shape;150;p23"/>
          <p:cNvCxnSpPr>
            <a:stCxn id="143" idx="2"/>
            <a:endCxn id="142" idx="2"/>
          </p:cNvCxnSpPr>
          <p:nvPr/>
        </p:nvCxnSpPr>
        <p:spPr>
          <a:xfrm rot="5400000">
            <a:off x="6100250" y="3974025"/>
            <a:ext cx="600" cy="15111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3"/>
          <p:cNvSpPr txBox="1"/>
          <p:nvPr/>
        </p:nvSpPr>
        <p:spPr>
          <a:xfrm>
            <a:off x="3357246" y="1581326"/>
            <a:ext cx="1569900" cy="447600"/>
          </a:xfrm>
          <a:prstGeom prst="rect">
            <a:avLst/>
          </a:prstGeom>
          <a:solidFill>
            <a:srgbClr val="595959">
              <a:alpha val="69230"/>
            </a:srgbClr>
          </a:solidFill>
          <a:ln>
            <a:noFill/>
          </a:ln>
        </p:spPr>
        <p:txBody>
          <a:bodyPr anchorCtr="0" anchor="t" bIns="88625" lIns="88625" spcFirstLastPara="1" rIns="88625" wrap="square" tIns="88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4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 Progress</a:t>
            </a:r>
            <a:endParaRPr b="1" i="1" sz="1745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							Comments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257100" y="1188950"/>
            <a:ext cx="4286400" cy="16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 are stored in DB comment table fields: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</a:t>
            </a:r>
            <a:r>
              <a:rPr lang="en"/>
              <a:t>ug_id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</a:t>
            </a:r>
            <a:r>
              <a:rPr lang="en"/>
              <a:t>ser_type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</a:t>
            </a:r>
            <a:r>
              <a:rPr lang="en"/>
              <a:t>ser_id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comment </a:t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228600" y="3019400"/>
            <a:ext cx="4286400" cy="192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"/>
              <a:t>Staff Solutions also stored in same </a:t>
            </a:r>
            <a:r>
              <a:rPr i="1" lang="en" u="sng"/>
              <a:t>comments </a:t>
            </a:r>
            <a:r>
              <a:rPr lang="en"/>
              <a:t>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Comments handle </a:t>
            </a:r>
            <a:r>
              <a:rPr lang="en"/>
              <a:t>regular</a:t>
            </a:r>
            <a:r>
              <a:rPr lang="en"/>
              <a:t> comments and bug solution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Deleting comment, SQL query checks comment_id, user_id, &amp; user_type so only user can delete their </a:t>
            </a:r>
            <a:r>
              <a:rPr b="1" lang="en"/>
              <a:t>own </a:t>
            </a:r>
            <a:r>
              <a:rPr lang="en"/>
              <a:t>comments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550" y="1188950"/>
            <a:ext cx="3739516" cy="378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399100" y="3519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							Ratings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24475" y="1188950"/>
            <a:ext cx="3932700" cy="152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Ratings are stored in DB </a:t>
            </a:r>
            <a:r>
              <a:rPr i="1" lang="en"/>
              <a:t>ratings</a:t>
            </a:r>
            <a:r>
              <a:rPr lang="en"/>
              <a:t> table fields: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rating_i</a:t>
            </a:r>
            <a:r>
              <a:rPr lang="en"/>
              <a:t>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bug_id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user_id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rating 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180375" y="3019400"/>
            <a:ext cx="3932700" cy="18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"/>
              <a:t>Rating Scale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1(Very Poor) - 5 (Exellent)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Only user can only submit rating</a:t>
            </a:r>
            <a:endParaRPr/>
          </a:p>
        </p:txBody>
      </p:sp>
      <p:pic>
        <p:nvPicPr>
          <p:cNvPr id="167" name="Google Shape;167;p25" title="Screenshot 2026-04-22 2114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796" y="1307625"/>
            <a:ext cx="4898525" cy="5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 b="0" l="0" r="59725" t="6183"/>
          <a:stretch/>
        </p:blipFill>
        <p:spPr>
          <a:xfrm>
            <a:off x="5088438" y="2072575"/>
            <a:ext cx="3101249" cy="273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>
            <a:off x="399100" y="460400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								Security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57100" y="1052600"/>
            <a:ext cx="4286400" cy="16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Hashing’s Signifiance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Plain text passwords convert into a scrambled, irreversible string that cannot be read or reversed.</a:t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140875" y="2947225"/>
            <a:ext cx="4286400" cy="169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Password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$hashed = password_hash($password. PASSWORD_DEFAULT)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Verifying at Login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password_verify($password, $row[‘password’]);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4686700" y="1052600"/>
            <a:ext cx="4286400" cy="21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Role-Based Access Control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PHP page checks with $SESSION[‘role’] at the very beginning. If role does not match it redirects you to index.php. </a:t>
            </a:r>
            <a:r>
              <a:rPr lang="en"/>
              <a:t>Along </a:t>
            </a:r>
            <a:r>
              <a:rPr lang="en"/>
              <a:t>with an admin_guard.php for protection in admin pages</a:t>
            </a:r>
            <a:endParaRPr/>
          </a:p>
        </p:txBody>
      </p:sp>
      <p:pic>
        <p:nvPicPr>
          <p:cNvPr id="177" name="Google Shape;177;p26" title="Screenshot 2026-04-22 2131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775" y="3407601"/>
            <a:ext cx="4496225" cy="1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 title="Screenshot 2026-04-23 120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25" y="854325"/>
            <a:ext cx="5001625" cy="23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 title="Screenshot 2026-04-23 1202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575" y="262316"/>
            <a:ext cx="3549975" cy="461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8" title="Screenshot 2026-04-23 1203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53813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 title="Screenshot 2026-04-23 1203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613" y="152400"/>
            <a:ext cx="387423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BB9FF"/>
            </a:gs>
            <a:gs pos="30000">
              <a:srgbClr val="D3EAFF"/>
            </a:gs>
            <a:gs pos="59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/>
        </p:nvSpPr>
        <p:spPr>
          <a:xfrm>
            <a:off x="285000" y="665375"/>
            <a:ext cx="857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Project Challenges</a:t>
            </a:r>
            <a:endParaRPr b="1" sz="25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554100" y="1649325"/>
            <a:ext cx="8035800" cy="2665800"/>
          </a:xfrm>
          <a:prstGeom prst="rect">
            <a:avLst/>
          </a:prstGeom>
          <a:solidFill>
            <a:srgbClr val="FFFFFF">
              <a:alpha val="579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Each member had limited </a:t>
            </a:r>
            <a:r>
              <a:rPr lang="en" sz="1700">
                <a:latin typeface="Nunito"/>
                <a:ea typeface="Nunito"/>
                <a:cs typeface="Nunito"/>
                <a:sym typeface="Nunito"/>
              </a:rPr>
              <a:t>experience</a:t>
            </a:r>
            <a:r>
              <a:rPr lang="en" sz="1700">
                <a:latin typeface="Nunito"/>
                <a:ea typeface="Nunito"/>
                <a:cs typeface="Nunito"/>
                <a:sym typeface="Nunito"/>
              </a:rPr>
              <a:t> with SQL, PHP HTML :: alot of time in the beginning was spent learning so start or project was delayed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Time </a:t>
            </a:r>
            <a:r>
              <a:rPr lang="en" sz="1700">
                <a:latin typeface="Nunito"/>
                <a:ea typeface="Nunito"/>
                <a:cs typeface="Nunito"/>
                <a:sym typeface="Nunito"/>
              </a:rPr>
              <a:t>Conflict :: once we really had a handle on what we wanted to do and how to do it there was limited time left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Schedule Conflict :: we had trouble meeting in person together, but we solved this by dividing and layering the work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553500" y="2315700"/>
            <a:ext cx="80370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THANK YOU</a:t>
            </a:r>
            <a:endParaRPr sz="302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553500" y="1817675"/>
            <a:ext cx="80370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Some slides we made but didn’t end up using in the presentation…</a:t>
            </a:r>
            <a:endParaRPr sz="302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468450" y="357100"/>
            <a:ext cx="82071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Overview</a:t>
            </a:r>
            <a:endParaRPr sz="252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399100" y="1467950"/>
            <a:ext cx="28725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WEB-BASED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***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Bugbusters is a web-based bug tracker that allows clients to submit bugs, staff to resolve bugs, and administrators to manage the workflow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3622625" y="1467950"/>
            <a:ext cx="25434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PURPOSE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***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Our purpose was to provide a </a:t>
            </a: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transparent, user-friendly </a:t>
            </a: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system for bug submission, tracking, </a:t>
            </a: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management</a:t>
            </a:r>
            <a:r>
              <a:rPr lang="en" sz="18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 and resolution</a:t>
            </a:r>
            <a:endParaRPr sz="18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6517050" y="1467950"/>
            <a:ext cx="2324400" cy="32235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APPLICATIONS</a:t>
            </a:r>
            <a:b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***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PHP, HTML, CSS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Backend: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MySQL Database</a:t>
            </a:r>
            <a:endParaRPr sz="18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B76FF"/>
            </a:gs>
            <a:gs pos="57000">
              <a:srgbClr val="D3EAFF"/>
            </a:gs>
            <a:gs pos="71000">
              <a:srgbClr val="B8A9EB"/>
            </a:gs>
            <a:gs pos="100000">
              <a:srgbClr val="8EC6F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4686025" y="3218325"/>
            <a:ext cx="4238700" cy="15939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RATING MODULE </a:t>
            </a:r>
            <a:r>
              <a:rPr b="1" lang="en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⭐</a:t>
            </a:r>
            <a:endParaRPr b="1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1-to-5 star system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User rates their bug solution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All roles can view ratings of resolved bugs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4686025" y="1104551"/>
            <a:ext cx="4238700" cy="19902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BUG MODULE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n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🐛</a:t>
            </a:r>
            <a:endParaRPr b="1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Submit bug with </a:t>
            </a: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optimized</a:t>
            </a: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 property fields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Comments and </a:t>
            </a: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ratings 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Organized data flow of Bug life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Ticketed number </a:t>
            </a: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system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333300" y="3218325"/>
            <a:ext cx="4238700" cy="15939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SEARCH MODULE </a:t>
            </a:r>
            <a:r>
              <a:rPr b="1" lang="en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🔍</a:t>
            </a:r>
            <a:endParaRPr b="1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Search bugs by keyword(s)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Universal role </a:t>
            </a: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access to bug search module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Admin can search staff</a:t>
            </a:r>
            <a:endParaRPr sz="1600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333300" y="1104550"/>
            <a:ext cx="4238700" cy="1990200"/>
          </a:xfrm>
          <a:prstGeom prst="rect">
            <a:avLst/>
          </a:prstGeom>
          <a:solidFill>
            <a:srgbClr val="FFFFFF">
              <a:alpha val="579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LOGIN MODULE </a:t>
            </a:r>
            <a:r>
              <a:rPr b="1" lang="en">
                <a:solidFill>
                  <a:srgbClr val="4A0080"/>
                </a:solidFill>
                <a:latin typeface="Nunito"/>
                <a:ea typeface="Nunito"/>
                <a:cs typeface="Nunito"/>
                <a:sym typeface="Nunito"/>
              </a:rPr>
              <a:t>🔐</a:t>
            </a:r>
            <a:endParaRPr b="1">
              <a:solidFill>
                <a:srgbClr val="4A008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ADMIN Login → Bug &amp; Staff </a:t>
            </a: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Management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STAFF Login → Bug Resolution 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4587"/>
                </a:solidFill>
                <a:latin typeface="Nunito"/>
                <a:ea typeface="Nunito"/>
                <a:cs typeface="Nunito"/>
                <a:sym typeface="Nunito"/>
              </a:rPr>
              <a:t>USER Login → Bug Submission &amp; Rating</a:t>
            </a:r>
            <a:endParaRPr sz="160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2" name="Google Shape;222;p33"/>
          <p:cNvSpPr txBox="1"/>
          <p:nvPr>
            <p:ph type="title"/>
          </p:nvPr>
        </p:nvSpPr>
        <p:spPr>
          <a:xfrm>
            <a:off x="468450" y="309925"/>
            <a:ext cx="82071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Key Features</a:t>
            </a:r>
            <a:endParaRPr sz="252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